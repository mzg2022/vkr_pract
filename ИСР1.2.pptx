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66" r:id="rId4"/>
    <p:sldId id="258" r:id="rId5"/>
    <p:sldId id="259" r:id="rId6"/>
    <p:sldId id="260" r:id="rId7"/>
    <p:sldId id="264" r:id="rId8"/>
    <p:sldId id="265" r:id="rId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201" d="100"/>
          <a:sy n="201" d="100"/>
        </p:scale>
        <p:origin x="654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2c161430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2c161430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2c161430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2c161430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94291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2c1614303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2c1614303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2c1614303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2c1614303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2c1614303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2c1614303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1e5523acd3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1e5523acd3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e462d57c9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1e462d57c9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0" y="512762"/>
            <a:ext cx="8520600" cy="116081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400" b="1" dirty="0">
                <a:latin typeface="Times New Roman"/>
                <a:ea typeface="Times New Roman"/>
                <a:cs typeface="Times New Roman"/>
                <a:sym typeface="Times New Roman"/>
              </a:rPr>
              <a:t>Разработка казуальной компьютерной игры и анализ ее продвижения на платформе </a:t>
            </a:r>
            <a:r>
              <a:rPr lang="ru-RU" sz="2400" b="1" dirty="0" err="1">
                <a:latin typeface="Times New Roman"/>
                <a:ea typeface="Times New Roman"/>
                <a:cs typeface="Times New Roman"/>
                <a:sym typeface="Times New Roman"/>
              </a:rPr>
              <a:t>Яндекс.Игры</a:t>
            </a:r>
            <a:endParaRPr sz="24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4352925" y="2049465"/>
            <a:ext cx="4791075" cy="289083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5461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Выполнил</a:t>
            </a:r>
            <a:r>
              <a:rPr lang="ru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endParaRPr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54610" lvl="0" indent="0" algn="l" rtl="0">
              <a:lnSpc>
                <a:spcPct val="115000"/>
              </a:lnSpc>
              <a:spcBef>
                <a:spcPts val="43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студент 4 курса</a:t>
            </a:r>
          </a:p>
          <a:p>
            <a:pPr marL="0" marR="54610" lvl="0" indent="0" algn="l" rtl="0">
              <a:lnSpc>
                <a:spcPct val="115000"/>
              </a:lnSpc>
              <a:spcBef>
                <a:spcPts val="43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09.03.01 Информатика и вычислительная техника, Технологии разработки программного  обеспечения</a:t>
            </a:r>
            <a:endParaRPr lang="ru"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54610" lvl="0" indent="0" algn="l" rtl="0">
              <a:lnSpc>
                <a:spcPct val="115000"/>
              </a:lnSpc>
              <a:spcBef>
                <a:spcPts val="43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Зубов Михаил Геннадьевич</a:t>
            </a:r>
            <a:endParaRPr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54610" lvl="0" indent="0" algn="l" rtl="0">
              <a:lnSpc>
                <a:spcPct val="115000"/>
              </a:lnSpc>
              <a:spcBef>
                <a:spcPts val="43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Руководитель</a:t>
            </a:r>
            <a:r>
              <a:rPr lang="ru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endParaRPr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54610" indent="0" algn="l">
              <a:lnSpc>
                <a:spcPct val="115000"/>
              </a:lnSpc>
              <a:spcBef>
                <a:spcPts val="430"/>
              </a:spcBef>
              <a:spcAft>
                <a:spcPts val="430"/>
              </a:spcAft>
              <a:buClr>
                <a:schemeClr val="dk1"/>
              </a:buClr>
              <a:buSzPts val="1100"/>
            </a:pPr>
            <a:r>
              <a:rPr lang="ru-RU" sz="16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доктор педагогических наук</a:t>
            </a:r>
            <a:r>
              <a:rPr lang="en-US" sz="16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16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заведующий кафедрой </a:t>
            </a:r>
            <a:r>
              <a:rPr lang="ru-RU" sz="16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ИТиЭО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b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16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Власова Елена </a:t>
            </a:r>
            <a:r>
              <a:rPr lang="ru-RU" sz="16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Зотиковна</a:t>
            </a:r>
            <a:endParaRPr sz="160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dirty="0"/>
              <a:t>Актуальность</a:t>
            </a:r>
            <a:endParaRPr sz="3000" dirty="0"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427400"/>
            <a:ext cx="8520600" cy="257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spcAft>
                <a:spcPts val="1600"/>
              </a:spcAft>
            </a:pPr>
            <a:r>
              <a:rPr lang="ru-RU" sz="16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Рынок казуальных игр растёт, а браузерные платформы делают их доступными множеству пользователей без установки.</a:t>
            </a:r>
          </a:p>
          <a:p>
            <a:pPr marL="285750" indent="-285750">
              <a:spcAft>
                <a:spcPts val="1600"/>
              </a:spcAft>
            </a:pPr>
            <a:r>
              <a:rPr lang="ru-RU" sz="16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Платформа </a:t>
            </a:r>
            <a:r>
              <a:rPr lang="ru-RU" sz="1600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Яндекс.Игры</a:t>
            </a:r>
            <a:r>
              <a:rPr lang="ru-RU" sz="16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предоставляет разработчику готовую инфраструктуру, но успех продукта зависит от грамотного учёта её механизмов продвижения.</a:t>
            </a:r>
          </a:p>
          <a:p>
            <a:pPr marL="285750" indent="-285750">
              <a:spcAft>
                <a:spcPts val="1600"/>
              </a:spcAft>
            </a:pPr>
            <a:r>
              <a:rPr lang="ru-RU" sz="16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Популярность гибридных моделей открывает возможности для новых проектов, однако требует продуманной архитектуры и анализа платформенных инструментов.</a:t>
            </a:r>
          </a:p>
        </p:txBody>
      </p:sp>
      <p:sp>
        <p:nvSpPr>
          <p:cNvPr id="62" name="Google Shape;62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000" dirty="0"/>
              <a:t>Предмет</a:t>
            </a:r>
            <a:endParaRPr sz="3000" dirty="0"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427400"/>
            <a:ext cx="8520600" cy="257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spcAft>
                <a:spcPts val="1600"/>
              </a:spcAft>
            </a:pP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</a:t>
            </a:r>
            <a:r>
              <a:rPr lang="ru-RU" sz="18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роцесс разработки и продвижения казуальных компьютерных игр на веб-ориентированных игровых платформах</a:t>
            </a:r>
            <a:endParaRPr sz="240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" name="Google Shape;62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824272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dirty="0">
                <a:latin typeface="Times New Roman"/>
                <a:ea typeface="Times New Roman"/>
                <a:cs typeface="Times New Roman"/>
                <a:sym typeface="Times New Roman"/>
              </a:rPr>
              <a:t>Цель</a:t>
            </a:r>
            <a:endParaRPr sz="30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311700" y="15076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algn="just">
              <a:lnSpc>
                <a:spcPct val="150000"/>
              </a:lnSpc>
              <a:buClr>
                <a:schemeClr val="dk1"/>
              </a:buClr>
              <a:buSzPts val="1100"/>
            </a:pPr>
            <a:r>
              <a:rPr lang="ru-RU" sz="24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Разработка казуальной компьютерной игры и анализ её продвижения на платформе </a:t>
            </a:r>
            <a:r>
              <a:rPr lang="ru-RU" sz="2400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Яндекс.Игры</a:t>
            </a:r>
            <a:r>
              <a:rPr lang="ru-RU" sz="2400" dirty="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" name="Google Shape;69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Times New Roman"/>
                <a:ea typeface="Times New Roman"/>
                <a:cs typeface="Times New Roman"/>
                <a:sym typeface="Times New Roman"/>
              </a:rPr>
              <a:t>Задачи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" name="Google Shape;75;p16"/>
          <p:cNvSpPr txBox="1">
            <a:spLocks noGrp="1"/>
          </p:cNvSpPr>
          <p:nvPr>
            <p:ph type="body" idx="1"/>
          </p:nvPr>
        </p:nvSpPr>
        <p:spPr>
          <a:xfrm>
            <a:off x="241025" y="1095317"/>
            <a:ext cx="8325600" cy="37481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spcBef>
                <a:spcPts val="1600"/>
              </a:spcBef>
              <a:spcAft>
                <a:spcPts val="1600"/>
              </a:spcAft>
            </a:pPr>
            <a:r>
              <a:rPr lang="ru-RU" sz="1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Проанализировать рынок казуальных игр, выявить особенности жанра и факторы успешности продукта на платформе </a:t>
            </a:r>
            <a:r>
              <a:rPr lang="ru-RU" sz="1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Яндекс.Игры</a:t>
            </a:r>
            <a:r>
              <a:rPr lang="ru-RU" sz="1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marL="285750" indent="-285750">
              <a:spcBef>
                <a:spcPts val="1600"/>
              </a:spcBef>
              <a:spcAft>
                <a:spcPts val="1600"/>
              </a:spcAft>
            </a:pPr>
            <a:r>
              <a:rPr lang="ru-RU" sz="1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Отобрать инструментальные средства: игровой движок, архитектурные подходы и дополнительные SDK.</a:t>
            </a:r>
          </a:p>
          <a:p>
            <a:pPr marL="285750" indent="-285750">
              <a:spcBef>
                <a:spcPts val="1600"/>
              </a:spcBef>
              <a:spcAft>
                <a:spcPts val="1600"/>
              </a:spcAft>
            </a:pPr>
            <a:r>
              <a:rPr lang="ru-RU" sz="1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Спроектировать архитектуру, разработать ключевые компоненты и реализовать игровой цикл.</a:t>
            </a:r>
          </a:p>
          <a:p>
            <a:pPr marL="285750" indent="-285750">
              <a:spcBef>
                <a:spcPts val="1600"/>
              </a:spcBef>
              <a:spcAft>
                <a:spcPts val="1600"/>
              </a:spcAft>
            </a:pPr>
            <a:r>
              <a:rPr lang="ru-RU" sz="1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Проанализировать механизмы продвижения на платформе </a:t>
            </a:r>
            <a:r>
              <a:rPr lang="ru-RU" sz="1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Яндекс.Игры</a:t>
            </a:r>
            <a:r>
              <a:rPr lang="ru-RU" sz="1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и оценить их эффективность.</a:t>
            </a:r>
            <a:endParaRPr sz="1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" name="Google Shape;76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Times New Roman"/>
                <a:ea typeface="Times New Roman"/>
                <a:cs typeface="Times New Roman"/>
                <a:sym typeface="Times New Roman"/>
              </a:rPr>
              <a:t>Инструменты и технологии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" name="Google Shape;82;p17"/>
          <p:cNvSpPr txBox="1">
            <a:spLocks noGrp="1"/>
          </p:cNvSpPr>
          <p:nvPr>
            <p:ph type="body" idx="1"/>
          </p:nvPr>
        </p:nvSpPr>
        <p:spPr>
          <a:xfrm>
            <a:off x="311700" y="13357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31800">
              <a:buClr>
                <a:srgbClr val="000000"/>
              </a:buClr>
              <a:buSzPts val="2200"/>
            </a:pPr>
            <a:r>
              <a:rPr lang="ru-RU" sz="2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Игровой движок: </a:t>
            </a:r>
            <a:r>
              <a:rPr lang="ru-RU" sz="22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Unity</a:t>
            </a:r>
            <a:endParaRPr lang="ru-RU" sz="2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31800">
              <a:buClr>
                <a:srgbClr val="000000"/>
              </a:buClr>
              <a:buSzPts val="2200"/>
            </a:pPr>
            <a:r>
              <a:rPr lang="ru-RU" sz="2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Архитектурные подходы: компонентно-ориентированная модель, событийное взаимодействие.</a:t>
            </a:r>
          </a:p>
          <a:p>
            <a:pPr marL="431800">
              <a:buClr>
                <a:srgbClr val="000000"/>
              </a:buClr>
              <a:buSzPts val="2200"/>
            </a:pPr>
            <a:r>
              <a:rPr lang="ru-RU" sz="2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Паттерны проектирования: Observer, </a:t>
            </a:r>
            <a:r>
              <a:rPr lang="ru-RU" sz="22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Singleton</a:t>
            </a:r>
            <a:r>
              <a:rPr lang="ru-RU" sz="2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Object Pool, конечный автомат</a:t>
            </a:r>
          </a:p>
          <a:p>
            <a:pPr marL="431800">
              <a:buClr>
                <a:srgbClr val="000000"/>
              </a:buClr>
              <a:buSzPts val="2200"/>
            </a:pPr>
            <a:r>
              <a:rPr lang="ru-RU" sz="2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Платформенный SDK: </a:t>
            </a:r>
            <a:r>
              <a:rPr lang="ru-RU" sz="22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Yandex</a:t>
            </a:r>
            <a:r>
              <a:rPr lang="ru-RU" sz="2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Games SDK</a:t>
            </a:r>
          </a:p>
        </p:txBody>
      </p:sp>
      <p:sp>
        <p:nvSpPr>
          <p:cNvPr id="83" name="Google Shape;83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Результат</a:t>
            </a:r>
            <a:endParaRPr dirty="0"/>
          </a:p>
        </p:txBody>
      </p:sp>
      <p:sp>
        <p:nvSpPr>
          <p:cNvPr id="109" name="Google Shape;109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Тут может быть скрин главной страницы вашего продукта</a:t>
            </a:r>
            <a:br>
              <a:rPr lang="ru-RU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ru-RU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ru-RU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*Визуальная часть продукта в доработке</a:t>
            </a:r>
            <a:endParaRPr sz="2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" name="Google Shape;110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>
            <a:spLocks noGrp="1"/>
          </p:cNvSpPr>
          <p:nvPr>
            <p:ph type="body" idx="1"/>
          </p:nvPr>
        </p:nvSpPr>
        <p:spPr>
          <a:xfrm>
            <a:off x="311700" y="13557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ru" sz="3000">
                <a:solidFill>
                  <a:srgbClr val="000000"/>
                </a:solidFill>
              </a:rPr>
              <a:t>Демонстрация работы продукта</a:t>
            </a:r>
            <a:endParaRPr sz="3000">
              <a:solidFill>
                <a:srgbClr val="000000"/>
              </a:solidFill>
            </a:endParaRPr>
          </a:p>
        </p:txBody>
      </p:sp>
      <p:sp>
        <p:nvSpPr>
          <p:cNvPr id="116" name="Google Shape;116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8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243</Words>
  <Application>Microsoft Office PowerPoint</Application>
  <PresentationFormat>Экран (16:9)</PresentationFormat>
  <Paragraphs>35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1" baseType="lpstr">
      <vt:lpstr>Arial</vt:lpstr>
      <vt:lpstr>Times New Roman</vt:lpstr>
      <vt:lpstr>Simple Light</vt:lpstr>
      <vt:lpstr>Разработка казуальной компьютерной игры и анализ ее продвижения на платформе Яндекс.Игры</vt:lpstr>
      <vt:lpstr>Актуальность</vt:lpstr>
      <vt:lpstr>Предмет</vt:lpstr>
      <vt:lpstr>Цель</vt:lpstr>
      <vt:lpstr>Задачи</vt:lpstr>
      <vt:lpstr>Инструменты и технологии</vt:lpstr>
      <vt:lpstr>Результат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Название ВКР</dc:title>
  <dc:creator>Светлана Гончарова</dc:creator>
  <cp:lastModifiedBy>Михаил Зубов</cp:lastModifiedBy>
  <cp:revision>5</cp:revision>
  <dcterms:modified xsi:type="dcterms:W3CDTF">2026-05-23T09:40:41Z</dcterms:modified>
</cp:coreProperties>
</file>